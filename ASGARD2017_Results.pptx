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457200"/>
            <a:ext cx="4572000" cy="4572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Georgia"/>
              </a:defRPr>
            </a:pPr>
            <a:r>
              <a:t>ASGARD 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2C39A"/>
                </a:solidFill>
                <a:latin typeface="Georgia"/>
              </a:defRPr>
            </a:pPr>
            <a:r>
              <a:t>Microbial Community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7315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Size-Fractionated Prokaryotic &amp; Eukaryotic Communities</a:t>
            </a:r>
            <a:br/>
            <a:r>
              <a:t>across Processing Stations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9AB5"/>
                </a:solidFill>
                <a:latin typeface="Calibri"/>
              </a:defRPr>
            </a:pPr>
            <a:r>
              <a:t>16S &amp; 18S Amplicon Sequencing  |  SILVA v132 Taxonomy  |  78 Samples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Study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ASGARD 2017 Cruise — Processing Stations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10515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65A82"/>
                </a:solidFill>
                <a:latin typeface="Georgia"/>
              </a:defRPr>
            </a:pPr>
            <a:r>
              <a:t>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0020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Samples analyzed</a:t>
            </a:r>
            <a:br/>
            <a:r>
              <a:t>(&gt;5,000 reads per sample)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731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65A82"/>
                </a:solidFill>
                <a:latin typeface="Georgia"/>
              </a:defRPr>
            </a:pPr>
            <a:r>
              <a:t>221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79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16S ASVs retained</a:t>
            </a:r>
            <a:br/>
            <a:r>
              <a:t>after abundance filtering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73152" cy="10515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65A82"/>
                </a:solidFill>
                <a:latin typeface="Georgia"/>
              </a:defRPr>
            </a:pPr>
            <a: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5196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Particle-associated ASVs</a:t>
            </a:r>
            <a:br/>
            <a:r>
              <a:t>(absent in 0.2 µm fraction)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440679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440679"/>
            <a:ext cx="731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32119"/>
            <a:ext cx="1097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65A82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57784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Distinct community clusters</a:t>
            </a:r>
            <a:br/>
            <a:r>
              <a:t>(Bray-Curtis / Ward linkage)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5A82"/>
                </a:solidFill>
                <a:latin typeface="Georgia"/>
              </a:defRPr>
            </a:pPr>
            <a:r>
              <a:t>Methodology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Size fractionation: 0.2, 3, and 20 µm filters separating free-living from particle-associated communities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16S &amp; 18S rRNA gene amplicon sequencing with ASV resolution (SILVA v132)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Fourth-root transformation applied to compress high-abundance dominance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Hierarchical clustering (Bray-Curtis distance, Ward.D linkage)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Distance-based RDA constrained by temperature, salinity, DO, NO₃, fluorescence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PCoA ordination across Bray-Curtis, Jaccard, and Euclidean distances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Size Fractionation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Distribution of ASVs across filter sizes (0.2, 3, 20 µm)</a:t>
            </a:r>
          </a:p>
        </p:txBody>
      </p:sp>
      <p:pic>
        <p:nvPicPr>
          <p:cNvPr id="6" name="Picture 5" descr="ternary_plots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436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75120" y="1371600"/>
            <a:ext cx="4846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484632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5A82"/>
                </a:solidFill>
                <a:latin typeface="Georgia"/>
              </a:defRPr>
            </a:pPr>
            <a: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19456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72 ASVs dominant in free-living fraction (0.2 µm ≥70%)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9 ASVs dominant in 3 µm fraction (≥70%)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36 ASVs dominant in particle-associated fraction (20 µm ≥70%)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49 ASVs completely absent in the 0.2 µm fraction — exclusively particle-associated taxa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Ternary plots colored by RGB proportions across three size fractions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16S Community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Hierarchical clustering of 78 samples × 221 ASVs</a:t>
            </a:r>
          </a:p>
        </p:txBody>
      </p:sp>
      <p:pic>
        <p:nvPicPr>
          <p:cNvPr id="6" name="Picture 5" descr="ASGARD_hm_processing_5000over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371600"/>
            <a:ext cx="42976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5A82"/>
                </a:solidFill>
                <a:latin typeface="Georgia"/>
              </a:defRPr>
            </a:pPr>
            <a:r>
              <a:t>Cluster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945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Bray-Curtis dissimilarity with Ward.D linkage identifies 4 distinct clusters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Samples color-coded by filter size (0.2, 3, 20 µm) and cluster assignment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Fourth-root transformation (^0.25) compresses dominance of abundant ASVs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Dendrogram ordering preserved across all downstream heatmaps for consistency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Particle-associated ASVs (zero_cols) highlighted in focused sub-heatmap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Geographic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Processing station clusters across sampling sites</a:t>
            </a:r>
          </a:p>
        </p:txBody>
      </p:sp>
      <p:pic>
        <p:nvPicPr>
          <p:cNvPr id="6" name="Picture 5" descr="processing_map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371600"/>
            <a:ext cx="438912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55448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5A82"/>
                </a:solidFill>
                <a:latin typeface="Georgia"/>
              </a:defRPr>
            </a:pPr>
            <a:r>
              <a:t>Spatial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9456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77 processing stations mapped by cluster assignment and water depth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Faceted by depth category: surface, mid-water, and bottom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Clusters show non-random geographic distribution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Per-ASV presence/absence maps generated for all 49 particle-associated taxa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Particle-associated ASVs display spatially heterogeneous distributions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Beta Diversity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Principal Coordinates Analysis across distance metrics</a:t>
            </a:r>
          </a:p>
        </p:txBody>
      </p:sp>
      <p:pic>
        <p:nvPicPr>
          <p:cNvPr id="6" name="Picture 5" descr="asgard_boxplots_processing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5A82"/>
                </a:solidFill>
                <a:latin typeface="Georgia"/>
              </a:defRPr>
            </a:pPr>
            <a:r>
              <a:t>Ordination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Three complementary distance metrics: Bray-Curtis (composition), Jaccard (presence/absence), Euclidean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PCoA reveals clear separation of the 4 clusters in ordination space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Boxplots of 52 metadata + PCoA variables by cluster assignment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Temperature, salinity, dissolved oxygen, and nutrient concentrations vary significantly across clusters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Cluster membership reflects underlying environmental gradients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Environmental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Distance-based Redundancy Analysis (db-RDA)</a:t>
            </a:r>
          </a:p>
        </p:txBody>
      </p:sp>
      <p:pic>
        <p:nvPicPr>
          <p:cNvPr id="6" name="Picture 5" descr="dbrda_ordination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5A82"/>
                </a:solidFill>
                <a:latin typeface="Georgia"/>
              </a:defRPr>
            </a:pPr>
            <a:r>
              <a:t>Constrained Ordination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Model constrained by 5 environmental variables: temperature, salinity, dissolved oxygen, nitrate, fluorescence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75 samples with complete environmental data (3 removed for missing values)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Overall model significant (p &lt; 0.001, ANOVA permutation test, 999 iterations)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Biplot arrows indicate direction and magnitude of environmental gradients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Salinity vs. temperature and salinity vs. NO₃ plots reveal cluster positioning along water mass gradients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Eukaryotic Community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18S rRNA — Class-level heatmap of 74 samples × 66 classes</a:t>
            </a:r>
          </a:p>
        </p:txBody>
      </p:sp>
      <p:pic>
        <p:nvPicPr>
          <p:cNvPr id="6" name="Picture 5" descr="ASGARD_hm_processing_18S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371600"/>
            <a:ext cx="42976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5A82"/>
                </a:solidFill>
                <a:latin typeface="Georgia"/>
              </a:defRPr>
            </a:pPr>
            <a:r>
              <a:t>Eukaryotic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945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74 samples analyzed (4 excluded due to missing 18S data)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66 eukaryotic classes and 57 phyla identified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Heatmap aligned to 16S dendrogram for consistent sample ordering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Eukaryotic community composition co-varies with prokaryotic clusters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ESV-level resolution reveals fine-scale within-ASV diversity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Summary &amp;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2A3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21031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2C39A"/>
                </a:solidFill>
                <a:latin typeface="Georgia"/>
              </a:defRPr>
            </a:pPr>
            <a:r>
              <a:t>Community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Hierarchical clustering reveals 4 distinct microbial community types across 78 processing stations, driven by both size fractionation and environmental gradients.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463040"/>
            <a:ext cx="5120640" cy="2103120"/>
          </a:xfrm>
          <a:prstGeom prst="rect">
            <a:avLst/>
          </a:prstGeom>
          <a:solidFill>
            <a:srgbClr val="2A3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73152" cy="21031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2C39A"/>
                </a:solidFill>
                <a:latin typeface="Georgia"/>
              </a:defRPr>
            </a:pPr>
            <a:r>
              <a:t>Particle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19456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49 ASVs are exclusively particle-associated (absent in 0.2 µm fraction), showing spatially heterogeneous geographic distributions across the study area.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5120640" cy="2103120"/>
          </a:xfrm>
          <a:prstGeom prst="rect">
            <a:avLst/>
          </a:prstGeom>
          <a:solidFill>
            <a:srgbClr val="2A3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69080"/>
            <a:ext cx="73152" cy="21031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2C39A"/>
                </a:solidFill>
                <a:latin typeface="Georgia"/>
              </a:defRPr>
            </a:pPr>
            <a:r>
              <a:t>Environmental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Temperature, salinity, dissolved oxygen, nitrate, and fluorescence significantly constrain community composition (db-RDA, p &lt; 0.001). Clusters map onto distinct water mass characteristics.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4069080"/>
            <a:ext cx="5120640" cy="2103120"/>
          </a:xfrm>
          <a:prstGeom prst="rect">
            <a:avLst/>
          </a:prstGeom>
          <a:solidFill>
            <a:srgbClr val="2A3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4069080"/>
            <a:ext cx="73152" cy="21031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42519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2C39A"/>
                </a:solidFill>
                <a:latin typeface="Georgia"/>
              </a:defRPr>
            </a:pPr>
            <a:r>
              <a:t>Prokaryote-Eukaryote Co-structure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80060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18S eukaryotic communities co-vary with 16S prokaryotic cluster assignments, suggesting shared environmental responses across domains of life.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8-script R pipeline with session-state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468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Script 00: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Load raw data</a:t>
            </a:r>
            <a:br/>
            <a:r>
              <a:t>2193 × 18535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945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54480"/>
            <a:ext cx="2468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Script 01: Data 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14884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Filter to 78 samples</a:t>
            </a:r>
            <a:br/>
            <a:r>
              <a:t>221 ASVs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2468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Script 02: Ternary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4884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Size fraction</a:t>
            </a:r>
            <a:br/>
            <a:r>
              <a:t>ratios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1945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54480"/>
            <a:ext cx="2468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Script 03: Heatmaps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14884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4 clusters</a:t>
            </a:r>
            <a:br/>
            <a:r>
              <a:t>identified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1480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114800"/>
            <a:ext cx="24688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8795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Script 04: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0916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Geographic</a:t>
            </a:r>
            <a:br/>
            <a:r>
              <a:t>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75488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411480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4114800"/>
            <a:ext cx="24688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79" y="418795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Script 05: PCoA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79" y="470916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Beta diversity</a:t>
            </a:r>
            <a:br/>
            <a:r>
              <a:t>ordination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75488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11480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114800"/>
            <a:ext cx="24688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18795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Script 06: db-RDA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70916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Environmental</a:t>
            </a:r>
            <a:br/>
            <a:r>
              <a:t>drivers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75488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11480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4114800"/>
            <a:ext cx="24688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418795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Script 07-08: 18S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70916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Eukaryotic</a:t>
            </a:r>
            <a:br/>
            <a:r>
              <a:t>communities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35661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35661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5661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35661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